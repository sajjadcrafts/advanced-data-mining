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D6E2EB">
              <a:alpha val="6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F0F2F5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1463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6B8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B6B8C"/>
                </a:solidFill>
                <a:latin typeface="Calibri"/>
                <a:ea typeface="Calibri"/>
                <a:cs typeface="Calibri"/>
                <a:sym typeface="Calibri"/>
              </a:rPr>
              <a:t>MSCS 634  ·  Advanced Big Data and Data Mining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96596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3600"/>
              <a:buFont typeface="Georgia"/>
              <a:buNone/>
            </a:pPr>
            <a:r>
              <a:rPr lang="en-US" sz="36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Clickstream Data for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3600"/>
              <a:buFont typeface="Georgia"/>
              <a:buNone/>
            </a:pPr>
            <a:r>
              <a:rPr lang="en-US" sz="36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Online Shopping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32918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Finding patterns in how shoppers browse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Hoai Nam Tran  ·   </a:t>
            </a:r>
            <a:r>
              <a:rPr lang="en-US" sz="13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Mohammed Sajjad Mohammed Arif Ansari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lang="en-US" sz="28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Objectives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48640" y="121615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280160" y="10972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Understand the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280160" y="14173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Clean and explore browsing records from an online clothing store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48640" y="208483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280160" y="19659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Predict product attention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280160" y="2286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Find which products get the most clicks and why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29535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280160" y="28346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Predict visitor engagement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280160" y="31546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Tell from early clicks if a shopper will browse deeply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48640" y="382219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280160" y="37033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Group sessions and find patterns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280160" y="40233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Discover types of shoppers and products viewed together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4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4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2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lang="en-US" sz="28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The Dataset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6B8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B6B8C"/>
                </a:solidFill>
                <a:latin typeface="Calibri"/>
                <a:ea typeface="Calibri"/>
                <a:cs typeface="Calibri"/>
                <a:sym typeface="Calibri"/>
              </a:rPr>
              <a:t>Online maternity clothing store  ·  April to August 2008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128016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48640" y="14630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Georgia"/>
              <a:buNone/>
            </a:pPr>
            <a:r>
              <a:rPr lang="en-US" sz="1500" b="0" i="0" u="none" strike="noStrike" cap="none">
                <a:solidFill>
                  <a:srgbClr val="2A4F6B"/>
                </a:solidFill>
                <a:latin typeface="Georgia"/>
                <a:ea typeface="Georgia"/>
                <a:cs typeface="Georgia"/>
                <a:sym typeface="Georgia"/>
              </a:rPr>
              <a:t>Over 165 thousand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606040" y="128016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697480" y="14630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Georgia"/>
              <a:buNone/>
            </a:pPr>
            <a:r>
              <a:rPr lang="en-US" sz="1500" b="0" i="0" u="none" strike="noStrike" cap="none">
                <a:solidFill>
                  <a:srgbClr val="2A4F6B"/>
                </a:solidFill>
                <a:latin typeface="Georgia"/>
                <a:ea typeface="Georgia"/>
                <a:cs typeface="Georgia"/>
                <a:sym typeface="Georgia"/>
              </a:rPr>
              <a:t>About 24 thousand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606040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Sessions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754880" y="128016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846320" y="14630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Georgia"/>
              <a:buNone/>
            </a:pPr>
            <a:r>
              <a:rPr lang="en-US" sz="1500" b="0" i="0" u="none" strike="noStrike" cap="none">
                <a:solidFill>
                  <a:srgbClr val="2A4F6B"/>
                </a:solidFill>
                <a:latin typeface="Georgia"/>
                <a:ea typeface="Georgia"/>
                <a:cs typeface="Georgia"/>
                <a:sym typeface="Georgia"/>
              </a:rPr>
              <a:t>217 products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754880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Catalogue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903720" y="128016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995160" y="14630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Georgia"/>
              <a:buNone/>
            </a:pPr>
            <a:r>
              <a:rPr lang="en-US" sz="1500" b="0" i="0" u="none" strike="noStrike" cap="none">
                <a:solidFill>
                  <a:srgbClr val="2A4F6B"/>
                </a:solidFill>
                <a:latin typeface="Georgia"/>
                <a:ea typeface="Georgia"/>
                <a:cs typeface="Georgia"/>
                <a:sym typeface="Georgia"/>
              </a:rPr>
              <a:t>18 to 82 dollars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903720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Price range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288036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What each click records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Product viewed, its price and colour, where the photo sat on the screen,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page depth, and the visitor’s country. About four-fifths of traffic is from Poland.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5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5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3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lang="en-US" sz="28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Cleaning the Data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960120"/>
            <a:ext cx="4069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57200" y="960120"/>
            <a:ext cx="91440" cy="1005840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731520" y="1143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File format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Used a semicolon separator instead of commas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754880" y="960120"/>
            <a:ext cx="4069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754880" y="960120"/>
            <a:ext cx="91440" cy="1005840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Constant column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02920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Dropped year — every record was from 2008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2103120"/>
            <a:ext cx="4069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57200" y="2103120"/>
            <a:ext cx="91440" cy="1005840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Category codes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31520" y="2606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Turned number codes into readable labels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754880" y="2103120"/>
            <a:ext cx="4069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754880" y="2103120"/>
            <a:ext cx="91440" cy="1005840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Missing country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029200" y="2606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Flagged unknown locations instead of deleting rows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3246120"/>
            <a:ext cx="4069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57200" y="3246120"/>
            <a:ext cx="91440" cy="1005840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Long sessions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Kept extreme sessions — they are real browsing, not errors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54880" y="3246120"/>
            <a:ext cx="4069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754880" y="3246120"/>
            <a:ext cx="91440" cy="1005840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5029200" y="3429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Two views of data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Built a click-level table and a session-level table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6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4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What We Learned from Exploration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65760" y="82296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40080" y="150876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Every product has one fixed price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Top-left photos get far more clicks than bottom-right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Category affects how deep people browse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Most sessions are short — about four clicks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We work at session level so heavy browsers do not dominate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709159" y="822960"/>
            <a:ext cx="4170823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5" name="Google Shape;115;p7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7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5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53646-B98F-E613-2B21-11638F43A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1" y="1188720"/>
            <a:ext cx="4023360" cy="27135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Regression: Predicting Attention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731520" y="114300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 we asked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31520" y="1463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Which products attract attention, and does price play a part?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" y="2377440"/>
            <a:ext cx="3977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685800" y="2606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Why we changed the target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85800" y="301752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Predicting price is not useful — the store already knows its prices. We switched to predicting how many clicks each product receives.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709160" y="2377440"/>
            <a:ext cx="3977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937760" y="2606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Why product level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937760" y="301752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Each product has fixed attributes. Working at click level would repeat the same products thousands of times. We grouped to one row per product.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8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8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6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lang="en-US" sz="26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Regression Results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65760" y="82296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How the models ranked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685800" y="15544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280160" y="150876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Random Forest (shallow)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280160" y="17647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Best overall fit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85800" y="2148840"/>
            <a:ext cx="365760" cy="365760"/>
          </a:xfrm>
          <a:prstGeom prst="ellipse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685800" y="21945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280160" y="214884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Lasso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280160" y="240487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Close to Ridge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85800" y="2788920"/>
            <a:ext cx="365760" cy="365760"/>
          </a:xfrm>
          <a:prstGeom prst="ellipse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685800" y="2834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280160" y="27889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Ridge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280160" y="304495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Strong regularisation helped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85800" y="34747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280160" y="34290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280160" y="36850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Overfit on small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709160" y="822960"/>
            <a:ext cx="3977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1" name="Google Shape;161;p9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9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7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552301-B523-A978-6705-79E390A30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99138"/>
            <a:ext cx="3753013" cy="2842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lang="en-US" sz="28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What Drives Attention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57200" y="96012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731520" y="11887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Page position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731520" y="160020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 strongest factor. Products on later pages get far fewer clicks because fewer visitors reach them.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754880" y="96012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Higher price draws more clicks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029200" y="160020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Premium products received more attention than budget ones — the opposite of what many expect.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57200" y="269748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731520" y="29260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Category matters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731520" y="33375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Trousers and skirts attract more interest than sale items. Discounting alone does not drive engagement.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754880" y="269748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029200" y="29260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Colour is weak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0" y="33375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Colour effects were small and inconsistent across models, so we treat them as unreliable.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0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p10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8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Classification: Early Engagement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Can the first two clicks tell us if a visitor will browse deeply?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Almost 19 thousand sessions with at least two clicks. About half went deep. We only used information from the opening two clicks.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57200" y="228600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457200" y="2286000"/>
            <a:ext cx="2697480" cy="109728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594360" y="26060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94360" y="310896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600"/>
              <a:buFont typeface="Georgia"/>
              <a:buNone/>
            </a:pPr>
            <a:r>
              <a:rPr lang="en-US" sz="1600" b="0" i="0" u="none" strike="noStrike" cap="none">
                <a:solidFill>
                  <a:srgbClr val="2A4F6B"/>
                </a:solidFill>
                <a:latin typeface="Georgia"/>
                <a:ea typeface="Georgia"/>
                <a:cs typeface="Georgia"/>
                <a:sym typeface="Georgia"/>
              </a:rPr>
              <a:t>Best of the three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94360" y="3611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Tuned for balance between classes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291840" y="228600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3291840" y="2286000"/>
            <a:ext cx="2697480" cy="109728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3429000" y="26060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Nearest Neighbours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3429000" y="310896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600"/>
              <a:buFont typeface="Georgia"/>
              <a:buNone/>
            </a:pPr>
            <a:r>
              <a:rPr lang="en-US" sz="1600" b="0" i="0" u="none" strike="noStrike" cap="none">
                <a:solidFill>
                  <a:srgbClr val="2A4F6B"/>
                </a:solidFill>
                <a:latin typeface="Georgia"/>
                <a:ea typeface="Georgia"/>
                <a:cs typeface="Georgia"/>
                <a:sym typeface="Georgia"/>
              </a:rPr>
              <a:t>Close second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3429000" y="3611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Worked well with scaled features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126480" y="228600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6126480" y="2286000"/>
            <a:ext cx="2697480" cy="109728"/>
          </a:xfrm>
          <a:prstGeom prst="rect">
            <a:avLst/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6263640" y="26060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Naive Bayes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263640" y="310896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600"/>
              <a:buFont typeface="Georgia"/>
              <a:buNone/>
            </a:pPr>
            <a:r>
              <a:rPr lang="en-US" sz="1600" b="0" i="0" u="none" strike="noStrike" cap="none">
                <a:solidFill>
                  <a:srgbClr val="2A4F6B"/>
                </a:solidFill>
                <a:latin typeface="Georgia"/>
                <a:ea typeface="Georgia"/>
                <a:cs typeface="Georgia"/>
                <a:sym typeface="Georgia"/>
              </a:rPr>
              <a:t>Weakest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263640" y="3611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Still better than guessing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1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11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9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Classification Performance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365760" y="82296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40080" y="1508760"/>
            <a:ext cx="35661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All three models beat a simple majority guess. The signal from only two clicks is real but modest.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 retailer could use this to offer help or a promotion while the visitor is still on the site.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Missing an engaged visitor costs more than an extra prompt, so the threshold should favour catching deep browsers.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709160" y="822960"/>
            <a:ext cx="3977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2" name="Google Shape;222;p12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12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10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26A99A-1A9B-623D-E326-1A2B6EE1B2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26"/>
          <a:stretch>
            <a:fillRect/>
          </a:stretch>
        </p:blipFill>
        <p:spPr>
          <a:xfrm>
            <a:off x="5029200" y="1268568"/>
            <a:ext cx="3356310" cy="28333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1;p13">
            <a:extLst>
              <a:ext uri="{FF2B5EF4-FFF2-40B4-BE49-F238E27FC236}">
                <a16:creationId xmlns:a16="http://schemas.microsoft.com/office/drawing/2014/main" id="{5ADA394A-A964-3F0C-8A8F-EAFBEFEB3D5D}"/>
              </a:ext>
            </a:extLst>
          </p:cNvPr>
          <p:cNvSpPr/>
          <p:nvPr/>
        </p:nvSpPr>
        <p:spPr>
          <a:xfrm>
            <a:off x="457202" y="1694537"/>
            <a:ext cx="3741313" cy="921483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31;p13">
            <a:extLst>
              <a:ext uri="{FF2B5EF4-FFF2-40B4-BE49-F238E27FC236}">
                <a16:creationId xmlns:a16="http://schemas.microsoft.com/office/drawing/2014/main" id="{4ED39687-DEFE-89B3-10FF-AE2DF728BFDF}"/>
              </a:ext>
            </a:extLst>
          </p:cNvPr>
          <p:cNvSpPr/>
          <p:nvPr/>
        </p:nvSpPr>
        <p:spPr>
          <a:xfrm>
            <a:off x="457200" y="2702957"/>
            <a:ext cx="3741313" cy="921483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1;p13">
            <a:extLst>
              <a:ext uri="{FF2B5EF4-FFF2-40B4-BE49-F238E27FC236}">
                <a16:creationId xmlns:a16="http://schemas.microsoft.com/office/drawing/2014/main" id="{2A35EFE0-AC3D-2BE5-4906-5867F53C4D67}"/>
              </a:ext>
            </a:extLst>
          </p:cNvPr>
          <p:cNvSpPr/>
          <p:nvPr/>
        </p:nvSpPr>
        <p:spPr>
          <a:xfrm>
            <a:off x="457198" y="3718453"/>
            <a:ext cx="3741313" cy="921483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230" name="Google Shape;230;p13"/>
          <p:cNvSpPr/>
          <p:nvPr/>
        </p:nvSpPr>
        <p:spPr>
          <a:xfrm>
            <a:off x="457200" y="27238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Georgia"/>
              <a:buNone/>
            </a:pPr>
            <a:r>
              <a:rPr lang="en-US" sz="2400" b="0" i="0" u="none" strike="noStrike" cap="none" dirty="0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Four Types of Shopping Session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457200" y="701254"/>
            <a:ext cx="3741313" cy="921483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681936" y="72411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Budget Bouncers (Cluster 2)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81936" y="964305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Short visits, cheapest items, one category. Looking at price and leaving.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681937" y="2767996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Premium Bouncers (Cluster 3)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81937" y="2987902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A5A5A"/>
              </a:buClr>
              <a:buSzPts val="1300"/>
            </a:pP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Also short visits, but highest prices. Need different messaging than budget leavers.</a:t>
            </a:r>
            <a:endParaRPr sz="1200" dirty="0">
              <a:solidFill>
                <a:srgbClr val="5A5A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81938" y="1764727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Moderate Browsers (Cluster 0)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681938" y="1926358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A5A5A"/>
              </a:buClr>
              <a:buSzPts val="1300"/>
            </a:pP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Medium-length sessions across a couple of categories and mid-range prices.</a:t>
            </a:r>
            <a:endParaRPr sz="1200" dirty="0">
              <a:solidFill>
                <a:srgbClr val="5A5A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81936" y="3759667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Deep Explorers (Cluster 1)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81936" y="3931599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Long sessions, many categories and </a:t>
            </a:r>
            <a:r>
              <a:rPr lang="en-US" sz="1200" b="0" i="0" u="none" strike="noStrike" cap="none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colours</a:t>
            </a:r>
            <a:r>
              <a:rPr lang="en-US" sz="1200" b="0" i="0" u="none" strike="noStrike" cap="none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. Best audience for recommendations.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3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8" name="Google Shape;248;p13"/>
          <p:cNvSpPr/>
          <p:nvPr/>
        </p:nvSpPr>
        <p:spPr>
          <a:xfrm>
            <a:off x="457198" y="492584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11  /  14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486597-C476-5EFA-8135-B7DBB3CD7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247" y="971553"/>
            <a:ext cx="4440855" cy="32003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Products Viewed Together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457200" y="868680"/>
            <a:ext cx="3977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731520" y="10972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Across categories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731520" y="155448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Shoppers move between blouses, skirts, and trousers in the same session.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They are building outfits, not hunting for one type of garment.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709160" y="868680"/>
            <a:ext cx="3977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4983480" y="10972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Across price levels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4983480" y="155448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Budget and mid-to-high items often appear together.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 longer sessions, people look at both cheap and expensive products.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3B6B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731520" y="361188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 complementary items to complete an outfit, not just more of the same category.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4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6" name="Google Shape;266;p14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12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lang="en-US" sz="28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Recommendations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457200" y="82296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685800" y="987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Put key products early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Page position is the strongest driver of attention.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754880" y="82296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4983480" y="987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Premium can lead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498348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Higher-priced items attract more clicks than sale items.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57200" y="201168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685800" y="21762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Treat short visits differently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68580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Budget leavers and premium leavers need different messages.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4754880" y="201168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4983480" y="21762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Act on early signals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98348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Two clicks can trigger help or an offer while the visitor is still browsing.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457200" y="320040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685800" y="33649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Suggest complete outfits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685800" y="3703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Shoppers move across categories — recommendations should follow.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4754880" y="3200400"/>
            <a:ext cx="4069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81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4983480" y="33649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4F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A4F6B"/>
                </a:solidFill>
                <a:latin typeface="Calibri"/>
                <a:ea typeface="Calibri"/>
                <a:cs typeface="Calibri"/>
                <a:sym typeface="Calibri"/>
              </a:rPr>
              <a:t>Focus on deep explorers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4983480" y="3703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Long sessions are the natural place for personalisation.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5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15"/>
          <p:cNvSpPr/>
          <p:nvPr/>
        </p:nvSpPr>
        <p:spPr>
          <a:xfrm>
            <a:off x="457200" y="4892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13  /  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Clickstream Data Mining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D6E2EB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7315200" y="3474720"/>
            <a:ext cx="3200400" cy="3200400"/>
          </a:xfrm>
          <a:prstGeom prst="ellipse">
            <a:avLst/>
          </a:prstGeom>
          <a:solidFill>
            <a:srgbClr val="F0F2F5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731520" y="5486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lang="en-US" sz="2600" b="0" i="0" u="none" strike="noStrike" cap="non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731520" y="1188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1.  We asked about attention, not price — a more useful question.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731520" y="169164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2.  Page placement and category drive clicks; premium pricing draws interest.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731520" y="219456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3.  The first two clicks carry a real but modest signal about engagement.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731520" y="26974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4.  Short visits look the same on bounce rate but differ by price interest.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731520" y="320040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5.  Shoppers build outfits across categories — merchandising should support that.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731520" y="4114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6B8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B6B8C"/>
                </a:solidFill>
                <a:latin typeface="Calibri"/>
                <a:ea typeface="Calibri"/>
                <a:cs typeface="Calibri"/>
                <a:sym typeface="Calibri"/>
              </a:rPr>
              <a:t>Thank you  · </a:t>
            </a:r>
            <a:r>
              <a:rPr lang="en-US" sz="1600">
                <a:solidFill>
                  <a:srgbClr val="3B6B8C"/>
                </a:solidFill>
                <a:latin typeface="Calibri"/>
                <a:ea typeface="Calibri"/>
                <a:cs typeface="Calibri"/>
                <a:sym typeface="Calibri"/>
              </a:rPr>
              <a:t> 😊😊😊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Microsoft Office PowerPoint</Application>
  <PresentationFormat>On-screen Show (16:9)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Nam Tran</cp:lastModifiedBy>
  <cp:revision>2</cp:revision>
  <dcterms:modified xsi:type="dcterms:W3CDTF">2026-07-26T14:37:25Z</dcterms:modified>
</cp:coreProperties>
</file>